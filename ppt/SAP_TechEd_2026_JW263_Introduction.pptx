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38"/>
  </p:sldMasterIdLst>
  <p:notesMasterIdLst>
    <p:notesMasterId r:id="rId49"/>
  </p:notesMasterIdLst>
  <p:handoutMasterIdLst>
    <p:handoutMasterId r:id="rId50"/>
  </p:handoutMasterIdLst>
  <p:sldIdLst>
    <p:sldId id="2147483267" r:id="rId39"/>
    <p:sldId id="2147483307" r:id="rId40"/>
    <p:sldId id="2147483308" r:id="rId41"/>
    <p:sldId id="2147483309" r:id="rId42"/>
    <p:sldId id="2147483268" r:id="rId43"/>
    <p:sldId id="2147483269" r:id="rId44"/>
    <p:sldId id="2147483270" r:id="rId45"/>
    <p:sldId id="2147483311" r:id="rId46"/>
    <p:sldId id="2147483271" r:id="rId47"/>
    <p:sldId id="2147483313" r:id="rId48"/>
  </p:sldIdLst>
  <p:sldSz cx="12195175" cy="6858000"/>
  <p:notesSz cx="6858000" cy="9144000"/>
  <p:embeddedFontLst>
    <p:embeddedFont>
      <p:font typeface="72" panose="020B0503030000000003" pitchFamily="34" charset="0"/>
      <p:regular r:id="rId51"/>
      <p:bold r:id="rId52"/>
      <p:italic r:id="rId53"/>
      <p:boldItalic r:id="rId54"/>
    </p:embeddedFont>
    <p:embeddedFont>
      <p:font typeface="72 Brand" panose="020B0504030603020204" pitchFamily="34" charset="0"/>
      <p:regular r:id="rId55"/>
      <p:bold r:id="rId56"/>
      <p:italic r:id="rId57"/>
      <p:boldItalic r:id="rId58"/>
    </p:embeddedFont>
    <p:embeddedFont>
      <p:font typeface="72 Brand Book" panose="020B0404030603020204" pitchFamily="34" charset="0"/>
      <p:regular r:id="rId59"/>
      <p:italic r:id="rId60"/>
    </p:embeddedFont>
    <p:embeddedFont>
      <p:font typeface="72 Brand Medium" panose="020B0604030603020204" pitchFamily="34" charset="0"/>
      <p:regular r:id="rId61"/>
      <p:italic r:id="rId62"/>
    </p:embeddedFont>
    <p:embeddedFont>
      <p:font typeface="Arial Unicode MS" panose="020B0604020202020204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</p:embeddedFontLst>
  <p:custDataLst>
    <p:tags r:id="rId6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0CED"/>
    <a:srgbClr val="9B76FF"/>
    <a:srgbClr val="A9B4BE"/>
    <a:srgbClr val="9876FF"/>
    <a:srgbClr val="7F7F7F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03" autoAdjust="0"/>
  </p:normalViewPr>
  <p:slideViewPr>
    <p:cSldViewPr snapToGrid="0" showGuides="1">
      <p:cViewPr varScale="1">
        <p:scale>
          <a:sx n="110" d="100"/>
          <a:sy n="110" d="100"/>
        </p:scale>
        <p:origin x="114" y="1056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 showGuides="1">
      <p:cViewPr varScale="1">
        <p:scale>
          <a:sx n="161" d="100"/>
          <a:sy n="161" d="100"/>
        </p:scale>
        <p:origin x="4216" y="2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slide" Target="slides/slide4.xml"/><Relationship Id="rId47" Type="http://schemas.openxmlformats.org/officeDocument/2006/relationships/slide" Target="slides/slide9.xml"/><Relationship Id="rId63" Type="http://schemas.openxmlformats.org/officeDocument/2006/relationships/font" Target="fonts/font13.fntdata"/><Relationship Id="rId68" Type="http://schemas.openxmlformats.org/officeDocument/2006/relationships/tags" Target="tags/tag1.xml"/><Relationship Id="rId7" Type="http://schemas.openxmlformats.org/officeDocument/2006/relationships/customXml" Target="../customXml/item7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" Target="slides/slide2.xml"/><Relationship Id="rId45" Type="http://schemas.openxmlformats.org/officeDocument/2006/relationships/slide" Target="slides/slide7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customXml" Target="../customXml/item5.xml"/><Relationship Id="rId61" Type="http://schemas.openxmlformats.org/officeDocument/2006/relationships/font" Target="fonts/font11.fntdata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slide" Target="slides/slide5.xml"/><Relationship Id="rId48" Type="http://schemas.openxmlformats.org/officeDocument/2006/relationships/slide" Target="slides/slide10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font" Target="fonts/font1.fntdata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slideMaster" Target="slideMasters/slideMaster1.xml"/><Relationship Id="rId46" Type="http://schemas.openxmlformats.org/officeDocument/2006/relationships/slide" Target="slides/slide8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customXml" Target="../customXml/item20.xml"/><Relationship Id="rId41" Type="http://schemas.openxmlformats.org/officeDocument/2006/relationships/slide" Target="slides/slide3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7.fntdata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" Target="slides/slide6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1.xml"/><Relationship Id="rId34" Type="http://schemas.openxmlformats.org/officeDocument/2006/relationships/customXml" Target="../customXml/item34.xml"/><Relationship Id="rId50" Type="http://schemas.openxmlformats.org/officeDocument/2006/relationships/handoutMaster" Target="handoutMasters/handoutMaster1.xml"/><Relationship Id="rId55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E3D8-C307-7E31-A04F-36E5CECA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4FB1B-88EC-4839-6AA5-61CC00A1E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AFE30-B49D-5CCC-5A34-015105195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997A-F358-25C9-AF12-79B977F3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0749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86A3-FB93-99E2-C768-1A7AF6DB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6B313-471C-8141-8B32-82BF53FDB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FB0DC-EEEF-37BB-884E-CF0B90586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118A-06E8-D1D1-7132-D21089739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4625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.sap.com/" TargetMode="External"/><Relationship Id="rId2" Type="http://schemas.openxmlformats.org/officeDocument/2006/relationships/hyperlink" Target="https://brand.sap.com/media-library/index.html#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rand.sap.com/writing-assistant" TargetMode="External"/><Relationship Id="rId4" Type="http://schemas.openxmlformats.org/officeDocument/2006/relationships/hyperlink" Target="https://brand.sap.com/naming-center#/dashboard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ROGRAM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522FD7-34BA-927B-D618-5CD508C33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46137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4DFEDD09-89E3-C1C8-D68C-F1BA5CE2BE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0" y="5994000"/>
            <a:ext cx="1769400" cy="360000"/>
          </a:xfrm>
          <a:prstGeom prst="rect">
            <a:avLst/>
          </a:prstGeom>
        </p:spPr>
      </p:pic>
      <p:sp>
        <p:nvSpPr>
          <p:cNvPr id="8" name="Text placeholder - column 1">
            <a:extLst>
              <a:ext uri="{FF2B5EF4-FFF2-40B4-BE49-F238E27FC236}">
                <a16:creationId xmlns:a16="http://schemas.microsoft.com/office/drawing/2014/main" id="{786EF529-E051-CFA5-5B3F-052C53E47E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8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9" name="Text placeholder - column 1">
            <a:extLst>
              <a:ext uri="{FF2B5EF4-FFF2-40B4-BE49-F238E27FC236}">
                <a16:creationId xmlns:a16="http://schemas.microsoft.com/office/drawing/2014/main" id="{AE6562C8-EA7A-7D19-DC5A-007433814C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38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57C2EE1-F4E5-7002-410A-84F69E97DC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4000" y="504000"/>
            <a:ext cx="1520190" cy="4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99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46137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614C4CD1-CA16-667F-1324-FFDCB5364C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0" y="5994000"/>
            <a:ext cx="1769400" cy="360000"/>
          </a:xfrm>
          <a:prstGeom prst="rect">
            <a:avLst/>
          </a:prstGeom>
        </p:spPr>
      </p:pic>
      <p:sp>
        <p:nvSpPr>
          <p:cNvPr id="13" name="Text placeholder - column 1">
            <a:extLst>
              <a:ext uri="{FF2B5EF4-FFF2-40B4-BE49-F238E27FC236}">
                <a16:creationId xmlns:a16="http://schemas.microsoft.com/office/drawing/2014/main" id="{9D147CEE-58B3-593B-5622-25B0A97FB7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8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14" name="Text placeholder - column 1">
            <a:extLst>
              <a:ext uri="{FF2B5EF4-FFF2-40B4-BE49-F238E27FC236}">
                <a16:creationId xmlns:a16="http://schemas.microsoft.com/office/drawing/2014/main" id="{21376C50-27A5-3F57-3C0C-65BF638BF4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38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17" name="Grafik 16" descr="Ein Bild, das Kreativität enthält.&#10;&#10;KI-generierte Inhalte können fehlerhaft sein.">
            <a:extLst>
              <a:ext uri="{FF2B5EF4-FFF2-40B4-BE49-F238E27FC236}">
                <a16:creationId xmlns:a16="http://schemas.microsoft.com/office/drawing/2014/main" id="{E86B94FA-55E0-E124-51CC-F9DB00F4AE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456" y="1049819"/>
            <a:ext cx="914919" cy="8995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A49BC91-D674-5C87-003F-88B6B2F60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5571" y="4966284"/>
            <a:ext cx="1779235" cy="52094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1777F3A-13DE-2F3E-CADF-8DEFD30B5A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59107" y="1708714"/>
            <a:ext cx="1478684" cy="4329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B81961-2AAD-F5C6-1C25-3BC153AE9A0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4000" y="504000"/>
            <a:ext cx="1520190" cy="4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3B8396E-6011-3F08-15E2-C30BF2D37C7E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>
            <a:extLst>
              <a:ext uri="{FF2B5EF4-FFF2-40B4-BE49-F238E27FC236}">
                <a16:creationId xmlns:a16="http://schemas.microsoft.com/office/drawing/2014/main" id="{C76D203B-1FA5-4F78-E166-9F9D19E1C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03D31A1-860E-07F5-25F1-D60C2D4C3D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36594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>
            <a:extLst>
              <a:ext uri="{FF2B5EF4-FFF2-40B4-BE49-F238E27FC236}">
                <a16:creationId xmlns:a16="http://schemas.microsoft.com/office/drawing/2014/main" id="{C76D203B-1FA5-4F78-E166-9F9D19E1C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03D31A1-860E-07F5-25F1-D60C2D4C3D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FB4D86-827B-C955-467C-5E03B7722774}"/>
              </a:ext>
            </a:extLst>
          </p:cNvPr>
          <p:cNvSpPr txBox="1"/>
          <p:nvPr userDrawn="1"/>
        </p:nvSpPr>
        <p:spPr>
          <a:xfrm>
            <a:off x="10469366" y="482885"/>
            <a:ext cx="65" cy="215444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de-DE" sz="1400" kern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20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text">
            <a:extLst>
              <a:ext uri="{FF2B5EF4-FFF2-40B4-BE49-F238E27FC236}">
                <a16:creationId xmlns:a16="http://schemas.microsoft.com/office/drawing/2014/main" id="{C50D8627-0891-7011-51F9-5F0EFE3B31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2830265"/>
            <a:ext cx="7388249" cy="1197469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6399E59-3AA9-5516-1877-1DD1610248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5571" y="4989239"/>
            <a:ext cx="1779235" cy="5209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377FA5-352B-9632-FC21-3804CE9BDB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04000" y="1708714"/>
            <a:ext cx="1478684" cy="4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129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text">
            <a:extLst>
              <a:ext uri="{FF2B5EF4-FFF2-40B4-BE49-F238E27FC236}">
                <a16:creationId xmlns:a16="http://schemas.microsoft.com/office/drawing/2014/main" id="{C50D8627-0891-7011-51F9-5F0EFE3B31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2830265"/>
            <a:ext cx="7388249" cy="1197469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BD5D76-9B94-60DF-FE99-EC16000CA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337374" y="5930411"/>
            <a:ext cx="1478684" cy="4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594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6777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DF24811-363C-F655-8415-4749FBA82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Text placeholder - column 2">
            <a:extLst>
              <a:ext uri="{FF2B5EF4-FFF2-40B4-BE49-F238E27FC236}">
                <a16:creationId xmlns:a16="http://schemas.microsoft.com/office/drawing/2014/main" id="{415C8346-21F7-9DA9-BFAA-30D09B4475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4333" y="1888442"/>
            <a:ext cx="4924337" cy="422805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7FDD697-9424-953C-44AF-986203176840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E28D954A-5A56-90C8-6DC3-DCB2DCA29C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3238" y="1557337"/>
            <a:ext cx="5465762" cy="4795837"/>
          </a:xfrm>
          <a:prstGeom prst="roundRect">
            <a:avLst>
              <a:gd name="adj" fmla="val 6689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0035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C19B51F-E605-CD11-8911-4AE4E40AA5D7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00FB2C0-3A70-0145-5278-16836077950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EB1528E-7FDA-B8F1-2A84-B2BDEE108625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876B324-50CA-1AEB-C3AC-95B7A65BDFA8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32592E4-804C-3253-1068-933C4F72DF74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DC2A50B-84CE-588D-BC0D-03AC792760D2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401F1F-FF79-001F-ABCA-4DFC3B4530EE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, image (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53B90D7-F65B-FA3E-37CD-D51694E3DEAC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E84DBC1-090A-95E1-74B7-FAD0D3E09967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1509204"/>
            <a:ext cx="9282112" cy="310352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“Add Quote.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consetetur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sadipscing</a:t>
            </a:r>
            <a:r>
              <a:rPr lang="en-GB"/>
              <a:t> </a:t>
            </a:r>
            <a:r>
              <a:rPr lang="en-GB" err="1"/>
              <a:t>elitr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nonumy</a:t>
            </a:r>
            <a:r>
              <a:rPr lang="en-GB"/>
              <a:t> </a:t>
            </a:r>
            <a:r>
              <a:rPr lang="en-GB" err="1"/>
              <a:t>eirmod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invidunt.</a:t>
            </a:r>
            <a:r>
              <a:rPr lang="en-US" dirty="0"/>
              <a:t>”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55738" y="4956960"/>
            <a:ext cx="9282112" cy="5207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Speaker,</a:t>
            </a:r>
          </a:p>
          <a:p>
            <a:pPr lvl="0"/>
            <a:r>
              <a:rPr lang="en-GB" dirty="0"/>
              <a:t>Company, Role</a:t>
            </a:r>
            <a:endParaRPr lang="en-DE" dirty="0"/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EE0764F-F0E6-FCF5-6C3D-B8A4EF090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337374" y="5842412"/>
            <a:ext cx="1779235" cy="52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What’s on your mind?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You ask, we answer.</a:t>
            </a: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260842"/>
            <a:ext cx="6704011" cy="92333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srgbClr val="A9B4BE"/>
                </a:solidFill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solidFill>
                  <a:srgbClr val="A9B4BE"/>
                </a:solidFill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solidFill>
                <a:srgbClr val="A9B4BE"/>
              </a:solidFill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LogoBlue-Dynamic" descr="{&quot;templafy&quot;:{&quot;id&quot;:&quot;90617327-e095-4f73-96d6-9f57f603f71c&quot;}}">
            <a:extLst>
              <a:ext uri="{FF2B5EF4-FFF2-40B4-BE49-F238E27FC236}">
                <a16:creationId xmlns:a16="http://schemas.microsoft.com/office/drawing/2014/main" id="{380C8CE1-5F08-0496-C85F-7E8DEB4E9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5665526"/>
            <a:ext cx="727192" cy="36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BE0289D-AD57-A93E-42DC-0CF0C908AD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9920" y="3255555"/>
            <a:ext cx="5835333" cy="106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09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09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1886639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3370839" y="1520825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503238" y="1520825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1886639"/>
            <a:ext cx="260749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1865573"/>
            <a:ext cx="260749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218735" y="1520825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075009" y="1520825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1886639"/>
            <a:ext cx="260749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4839583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391560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2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3904728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3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3896103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4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3891295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5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5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68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1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63" Type="http://schemas.openxmlformats.org/officeDocument/2006/relationships/tags" Target="../tags/tag37.xml"/><Relationship Id="rId84" Type="http://schemas.openxmlformats.org/officeDocument/2006/relationships/tags" Target="../tags/tag58.xml"/><Relationship Id="rId138" Type="http://schemas.openxmlformats.org/officeDocument/2006/relationships/tags" Target="../tags/tag112.xml"/><Relationship Id="rId107" Type="http://schemas.openxmlformats.org/officeDocument/2006/relationships/tags" Target="../tags/tag81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6.xml"/><Relationship Id="rId53" Type="http://schemas.openxmlformats.org/officeDocument/2006/relationships/tags" Target="../tags/tag27.xml"/><Relationship Id="rId74" Type="http://schemas.openxmlformats.org/officeDocument/2006/relationships/tags" Target="../tags/tag48.xml"/><Relationship Id="rId128" Type="http://schemas.openxmlformats.org/officeDocument/2006/relationships/tags" Target="../tags/tag102.xml"/><Relationship Id="rId149" Type="http://schemas.openxmlformats.org/officeDocument/2006/relationships/tags" Target="../tags/tag123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9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113" Type="http://schemas.openxmlformats.org/officeDocument/2006/relationships/tags" Target="../tags/tag87.xml"/><Relationship Id="rId118" Type="http://schemas.openxmlformats.org/officeDocument/2006/relationships/tags" Target="../tags/tag92.xml"/><Relationship Id="rId134" Type="http://schemas.openxmlformats.org/officeDocument/2006/relationships/tags" Target="../tags/tag108.xml"/><Relationship Id="rId139" Type="http://schemas.openxmlformats.org/officeDocument/2006/relationships/tags" Target="../tags/tag113.xml"/><Relationship Id="rId80" Type="http://schemas.openxmlformats.org/officeDocument/2006/relationships/tags" Target="../tags/tag54.xml"/><Relationship Id="rId85" Type="http://schemas.openxmlformats.org/officeDocument/2006/relationships/tags" Target="../tags/tag59.xml"/><Relationship Id="rId150" Type="http://schemas.openxmlformats.org/officeDocument/2006/relationships/tags" Target="../tags/tag124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59" Type="http://schemas.openxmlformats.org/officeDocument/2006/relationships/tags" Target="../tags/tag33.xml"/><Relationship Id="rId103" Type="http://schemas.openxmlformats.org/officeDocument/2006/relationships/tags" Target="../tags/tag77.xml"/><Relationship Id="rId108" Type="http://schemas.openxmlformats.org/officeDocument/2006/relationships/tags" Target="../tags/tag82.xml"/><Relationship Id="rId124" Type="http://schemas.openxmlformats.org/officeDocument/2006/relationships/tags" Target="../tags/tag98.xml"/><Relationship Id="rId129" Type="http://schemas.openxmlformats.org/officeDocument/2006/relationships/tags" Target="../tags/tag103.xml"/><Relationship Id="rId54" Type="http://schemas.openxmlformats.org/officeDocument/2006/relationships/tags" Target="../tags/tag28.xml"/><Relationship Id="rId70" Type="http://schemas.openxmlformats.org/officeDocument/2006/relationships/tags" Target="../tags/tag44.xml"/><Relationship Id="rId75" Type="http://schemas.openxmlformats.org/officeDocument/2006/relationships/tags" Target="../tags/tag49.xml"/><Relationship Id="rId91" Type="http://schemas.openxmlformats.org/officeDocument/2006/relationships/tags" Target="../tags/tag65.xml"/><Relationship Id="rId96" Type="http://schemas.openxmlformats.org/officeDocument/2006/relationships/tags" Target="../tags/tag70.xml"/><Relationship Id="rId140" Type="http://schemas.openxmlformats.org/officeDocument/2006/relationships/tags" Target="../tags/tag114.xml"/><Relationship Id="rId145" Type="http://schemas.openxmlformats.org/officeDocument/2006/relationships/tags" Target="../tags/tag11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49" Type="http://schemas.openxmlformats.org/officeDocument/2006/relationships/tags" Target="../tags/tag23.xml"/><Relationship Id="rId114" Type="http://schemas.openxmlformats.org/officeDocument/2006/relationships/tags" Target="../tags/tag88.xml"/><Relationship Id="rId119" Type="http://schemas.openxmlformats.org/officeDocument/2006/relationships/tags" Target="../tags/tag93.xml"/><Relationship Id="rId44" Type="http://schemas.openxmlformats.org/officeDocument/2006/relationships/tags" Target="../tags/tag18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81" Type="http://schemas.openxmlformats.org/officeDocument/2006/relationships/tags" Target="../tags/tag55.xml"/><Relationship Id="rId86" Type="http://schemas.openxmlformats.org/officeDocument/2006/relationships/tags" Target="../tags/tag60.xml"/><Relationship Id="rId130" Type="http://schemas.openxmlformats.org/officeDocument/2006/relationships/tags" Target="../tags/tag104.xml"/><Relationship Id="rId135" Type="http://schemas.openxmlformats.org/officeDocument/2006/relationships/tags" Target="../tags/tag10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109" Type="http://schemas.openxmlformats.org/officeDocument/2006/relationships/tags" Target="../tags/tag8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Relationship Id="rId76" Type="http://schemas.openxmlformats.org/officeDocument/2006/relationships/tags" Target="../tags/tag50.xml"/><Relationship Id="rId97" Type="http://schemas.openxmlformats.org/officeDocument/2006/relationships/tags" Target="../tags/tag71.xml"/><Relationship Id="rId104" Type="http://schemas.openxmlformats.org/officeDocument/2006/relationships/tags" Target="../tags/tag78.xml"/><Relationship Id="rId120" Type="http://schemas.openxmlformats.org/officeDocument/2006/relationships/tags" Target="../tags/tag94.xml"/><Relationship Id="rId125" Type="http://schemas.openxmlformats.org/officeDocument/2006/relationships/tags" Target="../tags/tag99.xml"/><Relationship Id="rId141" Type="http://schemas.openxmlformats.org/officeDocument/2006/relationships/tags" Target="../tags/tag115.xml"/><Relationship Id="rId146" Type="http://schemas.openxmlformats.org/officeDocument/2006/relationships/tags" Target="../tags/tag120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5.xml"/><Relationship Id="rId92" Type="http://schemas.openxmlformats.org/officeDocument/2006/relationships/tags" Target="../tags/tag66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3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66" Type="http://schemas.openxmlformats.org/officeDocument/2006/relationships/tags" Target="../tags/tag40.xml"/><Relationship Id="rId87" Type="http://schemas.openxmlformats.org/officeDocument/2006/relationships/tags" Target="../tags/tag61.xml"/><Relationship Id="rId110" Type="http://schemas.openxmlformats.org/officeDocument/2006/relationships/tags" Target="../tags/tag84.xml"/><Relationship Id="rId115" Type="http://schemas.openxmlformats.org/officeDocument/2006/relationships/tags" Target="../tags/tag89.xml"/><Relationship Id="rId131" Type="http://schemas.openxmlformats.org/officeDocument/2006/relationships/tags" Target="../tags/tag105.xml"/><Relationship Id="rId136" Type="http://schemas.openxmlformats.org/officeDocument/2006/relationships/tags" Target="../tags/tag110.xml"/><Relationship Id="rId61" Type="http://schemas.openxmlformats.org/officeDocument/2006/relationships/tags" Target="../tags/tag35.xml"/><Relationship Id="rId82" Type="http://schemas.openxmlformats.org/officeDocument/2006/relationships/tags" Target="../tags/tag56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56" Type="http://schemas.openxmlformats.org/officeDocument/2006/relationships/tags" Target="../tags/tag30.xml"/><Relationship Id="rId77" Type="http://schemas.openxmlformats.org/officeDocument/2006/relationships/tags" Target="../tags/tag51.xml"/><Relationship Id="rId100" Type="http://schemas.openxmlformats.org/officeDocument/2006/relationships/tags" Target="../tags/tag74.xml"/><Relationship Id="rId105" Type="http://schemas.openxmlformats.org/officeDocument/2006/relationships/tags" Target="../tags/tag79.xml"/><Relationship Id="rId126" Type="http://schemas.openxmlformats.org/officeDocument/2006/relationships/tags" Target="../tags/tag100.xml"/><Relationship Id="rId147" Type="http://schemas.openxmlformats.org/officeDocument/2006/relationships/tags" Target="../tags/tag121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72" Type="http://schemas.openxmlformats.org/officeDocument/2006/relationships/tags" Target="../tags/tag46.xml"/><Relationship Id="rId93" Type="http://schemas.openxmlformats.org/officeDocument/2006/relationships/tags" Target="../tags/tag67.xml"/><Relationship Id="rId98" Type="http://schemas.openxmlformats.org/officeDocument/2006/relationships/tags" Target="../tags/tag72.xml"/><Relationship Id="rId121" Type="http://schemas.openxmlformats.org/officeDocument/2006/relationships/tags" Target="../tags/tag95.xml"/><Relationship Id="rId142" Type="http://schemas.openxmlformats.org/officeDocument/2006/relationships/tags" Target="../tags/tag116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0.xml"/><Relationship Id="rId67" Type="http://schemas.openxmlformats.org/officeDocument/2006/relationships/tags" Target="../tags/tag41.xml"/><Relationship Id="rId116" Type="http://schemas.openxmlformats.org/officeDocument/2006/relationships/tags" Target="../tags/tag90.xml"/><Relationship Id="rId137" Type="http://schemas.openxmlformats.org/officeDocument/2006/relationships/tags" Target="../tags/tag11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62" Type="http://schemas.openxmlformats.org/officeDocument/2006/relationships/tags" Target="../tags/tag36.xml"/><Relationship Id="rId83" Type="http://schemas.openxmlformats.org/officeDocument/2006/relationships/tags" Target="../tags/tag57.xml"/><Relationship Id="rId88" Type="http://schemas.openxmlformats.org/officeDocument/2006/relationships/tags" Target="../tags/tag62.xml"/><Relationship Id="rId111" Type="http://schemas.openxmlformats.org/officeDocument/2006/relationships/tags" Target="../tags/tag85.xml"/><Relationship Id="rId132" Type="http://schemas.openxmlformats.org/officeDocument/2006/relationships/tags" Target="../tags/tag106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0.xml"/><Relationship Id="rId57" Type="http://schemas.openxmlformats.org/officeDocument/2006/relationships/tags" Target="../tags/tag31.xml"/><Relationship Id="rId106" Type="http://schemas.openxmlformats.org/officeDocument/2006/relationships/tags" Target="../tags/tag80.xml"/><Relationship Id="rId127" Type="http://schemas.openxmlformats.org/officeDocument/2006/relationships/tags" Target="../tags/tag10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52" Type="http://schemas.openxmlformats.org/officeDocument/2006/relationships/tags" Target="../tags/tag26.xml"/><Relationship Id="rId73" Type="http://schemas.openxmlformats.org/officeDocument/2006/relationships/tags" Target="../tags/tag47.xml"/><Relationship Id="rId78" Type="http://schemas.openxmlformats.org/officeDocument/2006/relationships/tags" Target="../tags/tag52.xml"/><Relationship Id="rId94" Type="http://schemas.openxmlformats.org/officeDocument/2006/relationships/tags" Target="../tags/tag68.xml"/><Relationship Id="rId99" Type="http://schemas.openxmlformats.org/officeDocument/2006/relationships/tags" Target="../tags/tag73.xml"/><Relationship Id="rId101" Type="http://schemas.openxmlformats.org/officeDocument/2006/relationships/tags" Target="../tags/tag75.xml"/><Relationship Id="rId122" Type="http://schemas.openxmlformats.org/officeDocument/2006/relationships/tags" Target="../tags/tag96.xml"/><Relationship Id="rId143" Type="http://schemas.openxmlformats.org/officeDocument/2006/relationships/tags" Target="../tags/tag117.xml"/><Relationship Id="rId148" Type="http://schemas.openxmlformats.org/officeDocument/2006/relationships/tags" Target="../tags/tag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21.xml"/><Relationship Id="rId68" Type="http://schemas.openxmlformats.org/officeDocument/2006/relationships/tags" Target="../tags/tag42.xml"/><Relationship Id="rId89" Type="http://schemas.openxmlformats.org/officeDocument/2006/relationships/tags" Target="../tags/tag63.xml"/><Relationship Id="rId112" Type="http://schemas.openxmlformats.org/officeDocument/2006/relationships/tags" Target="../tags/tag86.xml"/><Relationship Id="rId133" Type="http://schemas.openxmlformats.org/officeDocument/2006/relationships/tags" Target="../tags/tag107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1.xml"/><Relationship Id="rId58" Type="http://schemas.openxmlformats.org/officeDocument/2006/relationships/tags" Target="../tags/tag32.xml"/><Relationship Id="rId79" Type="http://schemas.openxmlformats.org/officeDocument/2006/relationships/tags" Target="../tags/tag53.xml"/><Relationship Id="rId102" Type="http://schemas.openxmlformats.org/officeDocument/2006/relationships/tags" Target="../tags/tag76.xml"/><Relationship Id="rId123" Type="http://schemas.openxmlformats.org/officeDocument/2006/relationships/tags" Target="../tags/tag97.xml"/><Relationship Id="rId144" Type="http://schemas.openxmlformats.org/officeDocument/2006/relationships/tags" Target="../tags/tag118.xml"/><Relationship Id="rId90" Type="http://schemas.openxmlformats.org/officeDocument/2006/relationships/tags" Target="../tags/tag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Start typing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  <a:p>
            <a:pPr lvl="0"/>
            <a:endParaRPr lang="en-US" noProof="0" dirty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1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780" r:id="rId2"/>
    <p:sldLayoutId id="2147483741" r:id="rId3"/>
    <p:sldLayoutId id="2147483832" r:id="rId4"/>
    <p:sldLayoutId id="2147483841" r:id="rId5"/>
    <p:sldLayoutId id="2147483837" r:id="rId6"/>
    <p:sldLayoutId id="2147483836" r:id="rId7"/>
    <p:sldLayoutId id="2147483834" r:id="rId8"/>
    <p:sldLayoutId id="2147483840" r:id="rId9"/>
    <p:sldLayoutId id="2147483812" r:id="rId10"/>
    <p:sldLayoutId id="2147483774" r:id="rId11"/>
    <p:sldLayoutId id="2147483745" r:id="rId12"/>
    <p:sldLayoutId id="2147483760" r:id="rId13"/>
    <p:sldLayoutId id="2147483768" r:id="rId14"/>
    <p:sldLayoutId id="2147483769" r:id="rId15"/>
    <p:sldLayoutId id="2147483770" r:id="rId16"/>
    <p:sldLayoutId id="2147483757" r:id="rId17"/>
    <p:sldLayoutId id="2147483771" r:id="rId18"/>
    <p:sldLayoutId id="2147483763" r:id="rId19"/>
    <p:sldLayoutId id="2147483751" r:id="rId20"/>
    <p:sldLayoutId id="2147483825" r:id="rId21"/>
    <p:sldLayoutId id="2147483826" r:id="rId22"/>
    <p:sldLayoutId id="2147483740" r:id="rId23"/>
    <p:sldLayoutId id="2147483824" r:id="rId24"/>
    <p:sldLayoutId id="2147483829" r:id="rId25"/>
    <p:sldLayoutId id="2147483843" r:id="rId26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  <p15:guide id="27" orient="horz" pos="9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customXml" Target="../../customXml/item22.xml"/><Relationship Id="rId1" Type="http://schemas.openxmlformats.org/officeDocument/2006/relationships/customXml" Target="../../customXml/item30.xm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37.xml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css-sprites/" TargetMode="External"/><Relationship Id="rId2" Type="http://schemas.openxmlformats.org/officeDocument/2006/relationships/hyperlink" Target="https://css-tricks.com/examples/IconFont/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ui5.github.io/cli/v4/pages/Builder/" TargetMode="External"/><Relationship Id="rId5" Type="http://schemas.openxmlformats.org/officeDocument/2006/relationships/hyperlink" Target="https://css-tricks.com/svg-sprites-use-better-icon-fonts/" TargetMode="External"/><Relationship Id="rId4" Type="http://schemas.openxmlformats.org/officeDocument/2006/relationships/hyperlink" Target="https://css-tricks.com/spriting-im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A372D-A68A-2153-020F-EF5F1C8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JW263 – </a:t>
            </a:r>
            <a:r>
              <a:rPr lang="en-DE" b="1" dirty="0"/>
              <a:t>AI-assisted optimization of SAP front-end application performance</a:t>
            </a:r>
            <a:br>
              <a:rPr lang="en-DE" b="1" dirty="0"/>
            </a:br>
            <a:endParaRPr lang="en-US" noProof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C47F3F-BAFC-EF91-A329-31B33DCB17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3238" y="4317754"/>
            <a:ext cx="4271575" cy="503434"/>
          </a:xfrm>
        </p:spPr>
        <p:txBody>
          <a:bodyPr/>
          <a:lstStyle/>
          <a:p>
            <a:r>
              <a:rPr lang="en-US" noProof="1"/>
              <a:t>Joaquin Recio Huertas, SAP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4512BE-602E-EA7E-E4E1-5BED290D94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3238" y="4913991"/>
            <a:ext cx="4271575" cy="231153"/>
          </a:xfrm>
        </p:spPr>
        <p:txBody>
          <a:bodyPr/>
          <a:lstStyle/>
          <a:p>
            <a:r>
              <a:rPr lang="en-US" noProof="1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399994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CE5D7-901D-0379-160B-5B716678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">
            <a:extLst>
              <a:ext uri="{FF2B5EF4-FFF2-40B4-BE49-F238E27FC236}">
                <a16:creationId xmlns:a16="http://schemas.microsoft.com/office/drawing/2014/main" id="{3C9C0EEE-F4D5-2015-0485-4B26A6771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5929751" cy="4787900"/>
          </a:xfrm>
        </p:spPr>
        <p:txBody>
          <a:bodyPr/>
          <a:lstStyle/>
          <a:p>
            <a:pPr lvl="1"/>
            <a:r>
              <a:rPr lang="de-DE" dirty="0"/>
              <a:t>Responsive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browsers</a:t>
            </a:r>
            <a:r>
              <a:rPr lang="de-DE" dirty="0"/>
              <a:t> and </a:t>
            </a:r>
            <a:r>
              <a:rPr lang="de-DE" dirty="0" err="1"/>
              <a:t>devices</a:t>
            </a:r>
            <a:endParaRPr lang="de-DE" dirty="0"/>
          </a:p>
          <a:p>
            <a:pPr lvl="1"/>
            <a:r>
              <a:rPr lang="de-DE" dirty="0"/>
              <a:t>Translation and </a:t>
            </a:r>
            <a:r>
              <a:rPr lang="de-DE" dirty="0" err="1"/>
              <a:t>internationalization</a:t>
            </a:r>
            <a:r>
              <a:rPr lang="de-DE" dirty="0"/>
              <a:t> support</a:t>
            </a:r>
          </a:p>
          <a:p>
            <a:pPr lvl="1"/>
            <a:r>
              <a:rPr lang="en-US" dirty="0"/>
              <a:t>Extensibility concepts at code and application level</a:t>
            </a:r>
          </a:p>
          <a:p>
            <a:pPr lvl="1"/>
            <a:r>
              <a:rPr lang="en-US" dirty="0"/>
              <a:t>Standards like MVC, OData, JSON, XML and others</a:t>
            </a:r>
          </a:p>
          <a:p>
            <a:pPr lvl="1"/>
            <a:r>
              <a:rPr lang="en-US" dirty="0"/>
              <a:t>Predefine theme, custom theme or High Contrast theme to aid visually impaired users</a:t>
            </a:r>
          </a:p>
          <a:p>
            <a:pPr lvl="1"/>
            <a:r>
              <a:rPr lang="en-US" dirty="0"/>
              <a:t>And much more…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59AD0-F47D-7F94-3F03-710F68C9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Front-end application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1C33922-2D4F-EA95-085F-1468D9386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92" y="2284971"/>
            <a:ext cx="47244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8485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B3F7-C2C0-FCE0-88CC-E4A9C9E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9B22-277E-95F3-C73C-36149F51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Front-end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en-US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8FE6C-8C78-E003-F1C8-908EF1B95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496" y="1304589"/>
            <a:ext cx="8809484" cy="474309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82768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C0D0-E085-93B8-1711-458985CA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50A81E-E11E-2A18-E4A7-DE2802CB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browsers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AEFE450-C251-A329-DD0B-D8DA81C0E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293" y="1244204"/>
            <a:ext cx="8626588" cy="47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7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E171-5115-D700-C809-75AA471A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D7FA78-330B-A364-945E-60911A56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First-level break-down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frontend</a:t>
            </a:r>
            <a:r>
              <a:rPr lang="de-DE" dirty="0"/>
              <a:t>, network and backend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8B1CF32-4790-E2C6-CD83-A9AFCE394BDE}"/>
              </a:ext>
            </a:extLst>
          </p:cNvPr>
          <p:cNvSpPr txBox="1">
            <a:spLocks/>
          </p:cNvSpPr>
          <p:nvPr/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de-DE" dirty="0"/>
              <a:t>First-level break-down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frontend</a:t>
            </a:r>
            <a:r>
              <a:rPr lang="de-DE" dirty="0"/>
              <a:t>, network and backend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E8E4708-EE15-C926-1405-03ABCA2FA0A6}"/>
              </a:ext>
            </a:extLst>
          </p:cNvPr>
          <p:cNvSpPr/>
          <p:nvPr/>
        </p:nvSpPr>
        <p:spPr bwMode="gray">
          <a:xfrm>
            <a:off x="503999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caching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00CCA14-6CDE-4E4B-8B3A-D92144B2E156}"/>
              </a:ext>
            </a:extLst>
          </p:cNvPr>
          <p:cNvSpPr/>
          <p:nvPr/>
        </p:nvSpPr>
        <p:spPr bwMode="gray">
          <a:xfrm>
            <a:off x="3263924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Network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quality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CB3DF18-3A6E-65E1-A9E3-9C187526B246}"/>
              </a:ext>
            </a:extLst>
          </p:cNvPr>
          <p:cNvSpPr/>
          <p:nvPr/>
        </p:nvSpPr>
        <p:spPr bwMode="gray">
          <a:xfrm>
            <a:off x="5950460" y="1090382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Big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gaps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4493405B-84E9-ABB2-C274-A6F5C1DF9BDC}"/>
              </a:ext>
            </a:extLst>
          </p:cNvPr>
          <p:cNvSpPr/>
          <p:nvPr/>
        </p:nvSpPr>
        <p:spPr bwMode="gray">
          <a:xfrm>
            <a:off x="5950460" y="3949666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Long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running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oData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calls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F4281D-9C2E-BD7C-841E-A63814A68E0B}"/>
              </a:ext>
            </a:extLst>
          </p:cNvPr>
          <p:cNvCxnSpPr/>
          <p:nvPr/>
        </p:nvCxnSpPr>
        <p:spPr>
          <a:xfrm>
            <a:off x="2441800" y="3424458"/>
            <a:ext cx="822124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D323F1-982E-CFCE-0E06-B3794D1B7458}"/>
              </a:ext>
            </a:extLst>
          </p:cNvPr>
          <p:cNvCxnSpPr>
            <a:endCxn id="7" idx="1"/>
          </p:cNvCxnSpPr>
          <p:nvPr/>
        </p:nvCxnSpPr>
        <p:spPr>
          <a:xfrm flipV="1">
            <a:off x="5201725" y="1632361"/>
            <a:ext cx="748735" cy="179613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166D75-B473-F32B-4913-EE106A0637AE}"/>
              </a:ext>
            </a:extLst>
          </p:cNvPr>
          <p:cNvCxnSpPr/>
          <p:nvPr/>
        </p:nvCxnSpPr>
        <p:spPr>
          <a:xfrm>
            <a:off x="5201725" y="3424458"/>
            <a:ext cx="748735" cy="106718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35EA3-734E-C789-DA1C-67A6C63C60ED}"/>
              </a:ext>
            </a:extLst>
          </p:cNvPr>
          <p:cNvCxnSpPr/>
          <p:nvPr/>
        </p:nvCxnSpPr>
        <p:spPr>
          <a:xfrm>
            <a:off x="1472899" y="3966437"/>
            <a:ext cx="0" cy="42389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C51819-0D42-24F9-C381-0C151C6BEAA1}"/>
              </a:ext>
            </a:extLst>
          </p:cNvPr>
          <p:cNvSpPr txBox="1"/>
          <p:nvPr/>
        </p:nvSpPr>
        <p:spPr>
          <a:xfrm>
            <a:off x="2295023" y="3444528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E0D61-E104-988A-762C-C2CF8C0CCD73}"/>
              </a:ext>
            </a:extLst>
          </p:cNvPr>
          <p:cNvSpPr txBox="1"/>
          <p:nvPr/>
        </p:nvSpPr>
        <p:spPr>
          <a:xfrm>
            <a:off x="1485957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40A44-1218-2B6B-E564-0654649E728A}"/>
              </a:ext>
            </a:extLst>
          </p:cNvPr>
          <p:cNvSpPr txBox="1"/>
          <p:nvPr/>
        </p:nvSpPr>
        <p:spPr>
          <a:xfrm>
            <a:off x="5234091" y="3304624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03EA7-941B-FBF4-F95E-17565A23235F}"/>
              </a:ext>
            </a:extLst>
          </p:cNvPr>
          <p:cNvSpPr txBox="1"/>
          <p:nvPr/>
        </p:nvSpPr>
        <p:spPr>
          <a:xfrm>
            <a:off x="4379601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E4CF9D-2391-450B-1EE9-1717D41959AB}"/>
              </a:ext>
            </a:extLst>
          </p:cNvPr>
          <p:cNvCxnSpPr>
            <a:stCxn id="6" idx="2"/>
            <a:endCxn id="19" idx="0"/>
          </p:cNvCxnSpPr>
          <p:nvPr/>
        </p:nvCxnSpPr>
        <p:spPr>
          <a:xfrm>
            <a:off x="4232825" y="3966437"/>
            <a:ext cx="10478" cy="43797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9FB2DB-8BD5-F1FE-3BDB-1CD0E19BD44D}"/>
              </a:ext>
            </a:extLst>
          </p:cNvPr>
          <p:cNvSpPr/>
          <p:nvPr/>
        </p:nvSpPr>
        <p:spPr bwMode="gray">
          <a:xfrm>
            <a:off x="528590" y="4390330"/>
            <a:ext cx="1900701" cy="1669383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settings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for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better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performance</a:t>
            </a:r>
            <a:endParaRPr kumimoji="0" lang="de-DE" sz="1400" b="0" i="0" u="none" strike="noStrike" kern="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IT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policy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53E3F6-21D2-64C3-6336-007570C36D28}"/>
              </a:ext>
            </a:extLst>
          </p:cNvPr>
          <p:cNvSpPr/>
          <p:nvPr/>
        </p:nvSpPr>
        <p:spPr bwMode="gray">
          <a:xfrm>
            <a:off x="3292952" y="4404416"/>
            <a:ext cx="1900701" cy="1655298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Latency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&lt; 200ms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Bandwith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&gt; 2 Mbps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5ADF23-23F9-A96B-DEAA-7F6F7B86D57E}"/>
              </a:ext>
            </a:extLst>
          </p:cNvPr>
          <p:cNvSpPr/>
          <p:nvPr/>
        </p:nvSpPr>
        <p:spPr bwMode="gray">
          <a:xfrm>
            <a:off x="7552896" y="5013416"/>
            <a:ext cx="2161515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backend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baseline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baseline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database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A912FBF-B424-DD54-246D-5C4F84437BBB}"/>
              </a:ext>
            </a:extLst>
          </p:cNvPr>
          <p:cNvCxnSpPr>
            <a:stCxn id="8" idx="2"/>
            <a:endCxn id="20" idx="1"/>
          </p:cNvCxnSpPr>
          <p:nvPr/>
        </p:nvCxnSpPr>
        <p:spPr>
          <a:xfrm rot="16200000" flipH="1">
            <a:off x="6906793" y="5046191"/>
            <a:ext cx="658670" cy="633535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ECD536-35BF-F510-FF14-9A5F97274C3F}"/>
              </a:ext>
            </a:extLst>
          </p:cNvPr>
          <p:cNvSpPr txBox="1"/>
          <p:nvPr/>
        </p:nvSpPr>
        <p:spPr>
          <a:xfrm>
            <a:off x="7019803" y="5033506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2830A-A476-30A9-C180-D1280EC118B1}"/>
              </a:ext>
            </a:extLst>
          </p:cNvPr>
          <p:cNvSpPr txBox="1"/>
          <p:nvPr/>
        </p:nvSpPr>
        <p:spPr>
          <a:xfrm>
            <a:off x="7773646" y="1267447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3A78DF-A5A3-08AD-5807-418D2CC63965}"/>
              </a:ext>
            </a:extLst>
          </p:cNvPr>
          <p:cNvSpPr/>
          <p:nvPr/>
        </p:nvSpPr>
        <p:spPr bwMode="gray">
          <a:xfrm>
            <a:off x="7552895" y="2004062"/>
            <a:ext cx="1900701" cy="1857827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Most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probably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high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rendering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Also high JavaScript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processing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time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BF7D5AD-93D2-6119-5205-9C64DD7C2551}"/>
              </a:ext>
            </a:extLst>
          </p:cNvPr>
          <p:cNvCxnSpPr>
            <a:stCxn id="7" idx="2"/>
            <a:endCxn id="24" idx="1"/>
          </p:cNvCxnSpPr>
          <p:nvPr/>
        </p:nvCxnSpPr>
        <p:spPr>
          <a:xfrm rot="16200000" flipH="1">
            <a:off x="6856810" y="2236891"/>
            <a:ext cx="758636" cy="633534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84C566-9FCD-E33A-AEA6-7BEDCC484956}"/>
              </a:ext>
            </a:extLst>
          </p:cNvPr>
          <p:cNvSpPr txBox="1"/>
          <p:nvPr/>
        </p:nvSpPr>
        <p:spPr>
          <a:xfrm>
            <a:off x="6968603" y="2161482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CBFA1D-F61C-571A-2894-A5F5453A25E0}"/>
              </a:ext>
            </a:extLst>
          </p:cNvPr>
          <p:cNvSpPr txBox="1"/>
          <p:nvPr/>
        </p:nvSpPr>
        <p:spPr>
          <a:xfrm>
            <a:off x="7773646" y="4139302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A4DAFA9-242C-7864-8A68-52001DB94B19}"/>
              </a:ext>
            </a:extLst>
          </p:cNvPr>
          <p:cNvSpPr/>
          <p:nvPr/>
        </p:nvSpPr>
        <p:spPr bwMode="gray">
          <a:xfrm>
            <a:off x="10087130" y="2798140"/>
            <a:ext cx="1900701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machine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customer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expectation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DD57BE6-03E3-1D9E-2A4C-CBE91065C7DF}"/>
              </a:ext>
            </a:extLst>
          </p:cNvPr>
          <p:cNvCxnSpPr>
            <a:stCxn id="7" idx="3"/>
            <a:endCxn id="28" idx="0"/>
          </p:cNvCxnSpPr>
          <p:nvPr/>
        </p:nvCxnSpPr>
        <p:spPr>
          <a:xfrm>
            <a:off x="7888261" y="1632361"/>
            <a:ext cx="3149220" cy="1165779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914DC57-875A-6BA8-C2B3-D290A07997D8}"/>
              </a:ext>
            </a:extLst>
          </p:cNvPr>
          <p:cNvCxnSpPr>
            <a:stCxn id="8" idx="3"/>
            <a:endCxn id="28" idx="2"/>
          </p:cNvCxnSpPr>
          <p:nvPr/>
        </p:nvCxnSpPr>
        <p:spPr>
          <a:xfrm flipV="1">
            <a:off x="7888261" y="4155895"/>
            <a:ext cx="3149220" cy="335750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7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33F9-5863-2FC5-06B6-58E1FC3C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CAEE4-76EE-2550-5A52-DAD66138E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Check if round-trips could be avoided or optimized</a:t>
            </a:r>
          </a:p>
          <a:p>
            <a:pPr lvl="1"/>
            <a:r>
              <a:rPr lang="en-US" dirty="0"/>
              <a:t>Can it be removed completely (i.e. not used libraries, </a:t>
            </a:r>
            <a:r>
              <a:rPr lang="en-US" dirty="0" err="1"/>
              <a:t>out-dated</a:t>
            </a:r>
            <a:r>
              <a:rPr lang="en-US" dirty="0"/>
              <a:t> library, 3</a:t>
            </a:r>
            <a:r>
              <a:rPr lang="en-US" baseline="30000" dirty="0"/>
              <a:t>rd</a:t>
            </a:r>
            <a:r>
              <a:rPr lang="en-US" dirty="0"/>
              <a:t>-party library duplicating browser functionality)?</a:t>
            </a:r>
          </a:p>
          <a:p>
            <a:pPr lvl="1"/>
            <a:r>
              <a:rPr lang="en-US" dirty="0"/>
              <a:t>Can it be merged/aggregated to other requests (</a:t>
            </a:r>
            <a:r>
              <a:rPr lang="en-US" dirty="0">
                <a:latin typeface="Consolas" panose="020B0609020204030204" pitchFamily="49" charset="0"/>
              </a:rPr>
              <a:t>$batch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$expand</a:t>
            </a:r>
            <a:r>
              <a:rPr lang="en-US" dirty="0"/>
              <a:t>, sprites, aggregated libraries …)?</a:t>
            </a:r>
          </a:p>
          <a:p>
            <a:pPr lvl="1"/>
            <a:r>
              <a:rPr lang="en-US" dirty="0"/>
              <a:t>Can it be cached in the browser cache?</a:t>
            </a:r>
          </a:p>
          <a:p>
            <a:pPr lvl="1"/>
            <a:r>
              <a:rPr lang="en-US" dirty="0"/>
              <a:t>Can it be cached for longer time?</a:t>
            </a:r>
          </a:p>
          <a:p>
            <a:pPr lvl="1"/>
            <a:r>
              <a:rPr lang="en-US" dirty="0"/>
              <a:t>Can it be served through Content Delivery Network (CDN)?</a:t>
            </a:r>
          </a:p>
          <a:p>
            <a:pPr lvl="1"/>
            <a:r>
              <a:rPr lang="en-US" dirty="0"/>
              <a:t>Can it be loaded in later point of time (on demand)?</a:t>
            </a:r>
            <a:endParaRPr lang="de-DE" dirty="0"/>
          </a:p>
          <a:p>
            <a:endParaRPr lang="en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29835F-8805-257D-3FAF-60FAA48A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Fully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– Round-Trips</a:t>
            </a: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A980DCAF-A356-7A5B-68DF-1374B3DB35BF}"/>
              </a:ext>
            </a:extLst>
          </p:cNvPr>
          <p:cNvSpPr/>
          <p:nvPr/>
        </p:nvSpPr>
        <p:spPr bwMode="gray">
          <a:xfrm>
            <a:off x="1813995" y="4982861"/>
            <a:ext cx="8566485" cy="654278"/>
          </a:xfrm>
          <a:prstGeom prst="roundRect">
            <a:avLst>
              <a:gd name="adj" fmla="val 20961"/>
            </a:avLst>
          </a:prstGeom>
          <a:solidFill>
            <a:srgbClr val="D1EFFF"/>
          </a:solidFill>
          <a:ln w="8907" cap="flat">
            <a:noFill/>
            <a:prstDash val="solid"/>
            <a:miter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63" tIns="71981" rIns="143963" bIns="71981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lvl="1" defTabSz="1088449">
              <a:spcBef>
                <a:spcPts val="1799"/>
              </a:spcBef>
              <a:buClr>
                <a:srgbClr val="5B738B"/>
              </a:buClr>
              <a:buNone/>
            </a:pPr>
            <a:r>
              <a:rPr lang="en-US" sz="2800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The </a:t>
            </a:r>
            <a:r>
              <a:rPr lang="en-US" sz="2800" b="1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fastest</a:t>
            </a:r>
            <a:r>
              <a:rPr lang="en-US" sz="2800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 round-trip is the one that doesn’t happen!</a:t>
            </a:r>
            <a:endParaRPr lang="en-US" sz="2800" dirty="0">
              <a:solidFill>
                <a:srgbClr val="002A86"/>
              </a:solidFill>
              <a:latin typeface="72 Brand Medium" panose="020B05040306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7296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999F-42E5-BD83-C61A-D28B0427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264E12E-59E0-1D48-18F8-482A5919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Fully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– Round-Trips (</a:t>
            </a:r>
            <a:r>
              <a:rPr lang="de-DE" dirty="0" err="1"/>
              <a:t>cont</a:t>
            </a:r>
            <a:r>
              <a:rPr lang="de-DE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A0AED-D4C4-674D-4DE5-65C148300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Reduce resource fragmentation (JavaScript, CSS) by merging: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/myCodeList.js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/myCodeDetail.js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/myCodeUtils1.js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/myCodeUtils2.js</a:t>
            </a:r>
          </a:p>
          <a:p>
            <a:pPr lvl="1"/>
            <a:r>
              <a:rPr lang="en-US" dirty="0"/>
              <a:t>Avoid loading of resource duplicates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2"/>
            <a:r>
              <a:rPr lang="en-US" dirty="0"/>
              <a:t>/some/other.css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1"/>
            <a:r>
              <a:rPr lang="en-US" dirty="0"/>
              <a:t>Use aggregation of small images/icons</a:t>
            </a:r>
          </a:p>
          <a:p>
            <a:pPr lvl="2"/>
            <a:r>
              <a:rPr lang="en-US" dirty="0">
                <a:hlinkClick r:id="rId2"/>
              </a:rPr>
              <a:t>Icon fonts</a:t>
            </a:r>
            <a:endParaRPr lang="en-US" dirty="0"/>
          </a:p>
          <a:p>
            <a:pPr lvl="2"/>
            <a:r>
              <a:rPr lang="en-US" dirty="0">
                <a:hlinkClick r:id="rId3"/>
              </a:rPr>
              <a:t>CSS sprites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Image sprites</a:t>
            </a:r>
            <a:r>
              <a:rPr lang="en-US" dirty="0"/>
              <a:t> (including </a:t>
            </a:r>
            <a:r>
              <a:rPr lang="en-US" dirty="0">
                <a:hlinkClick r:id="rId5"/>
              </a:rPr>
              <a:t>SVG sprites</a:t>
            </a:r>
            <a:r>
              <a:rPr lang="en-US" dirty="0"/>
              <a:t>)</a:t>
            </a:r>
          </a:p>
          <a:p>
            <a:endParaRPr lang="en-DE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94062C96-CF02-5F32-8296-25FEB29ECECA}"/>
              </a:ext>
            </a:extLst>
          </p:cNvPr>
          <p:cNvSpPr/>
          <p:nvPr/>
        </p:nvSpPr>
        <p:spPr>
          <a:xfrm>
            <a:off x="4775173" y="1894951"/>
            <a:ext cx="320417" cy="1158352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AE55627-0C07-C515-A751-5DB374DB1206}"/>
              </a:ext>
            </a:extLst>
          </p:cNvPr>
          <p:cNvSpPr/>
          <p:nvPr/>
        </p:nvSpPr>
        <p:spPr>
          <a:xfrm>
            <a:off x="4280154" y="3497263"/>
            <a:ext cx="184756" cy="244698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C03DF34-FA19-4D5F-00C8-F9C48325737D}"/>
              </a:ext>
            </a:extLst>
          </p:cNvPr>
          <p:cNvSpPr/>
          <p:nvPr/>
        </p:nvSpPr>
        <p:spPr>
          <a:xfrm>
            <a:off x="4280154" y="4166346"/>
            <a:ext cx="320417" cy="542474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728A8F08-7A34-437F-601A-B0A6165D232C}"/>
              </a:ext>
            </a:extLst>
          </p:cNvPr>
          <p:cNvSpPr/>
          <p:nvPr/>
        </p:nvSpPr>
        <p:spPr>
          <a:xfrm>
            <a:off x="4877340" y="3676270"/>
            <a:ext cx="320417" cy="780267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842C13-8DC3-D836-E90D-58A7EF86F81E}"/>
              </a:ext>
            </a:extLst>
          </p:cNvPr>
          <p:cNvSpPr txBox="1"/>
          <p:nvPr/>
        </p:nvSpPr>
        <p:spPr>
          <a:xfrm>
            <a:off x="5278968" y="2335627"/>
            <a:ext cx="22495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/resources/</a:t>
            </a:r>
            <a:r>
              <a:rPr lang="en-US" sz="1800" dirty="0" err="1">
                <a:latin typeface="+mn-lt"/>
              </a:rPr>
              <a:t>js</a:t>
            </a:r>
            <a:r>
              <a:rPr lang="en-US" sz="1800" dirty="0">
                <a:latin typeface="+mn-lt"/>
              </a:rPr>
              <a:t>/myLib.js</a:t>
            </a:r>
            <a:endParaRPr lang="de-DE" sz="180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39D67E-BB6E-C47E-EB88-10F477FEB5D4}"/>
              </a:ext>
            </a:extLst>
          </p:cNvPr>
          <p:cNvSpPr txBox="1"/>
          <p:nvPr/>
        </p:nvSpPr>
        <p:spPr>
          <a:xfrm>
            <a:off x="5419594" y="3892214"/>
            <a:ext cx="210314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Bad Modularization?</a:t>
            </a:r>
            <a:endParaRPr lang="de-DE" sz="1800" dirty="0">
              <a:latin typeface="+mn-lt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6BEF842-6382-7C55-86B9-4955EC276309}"/>
              </a:ext>
            </a:extLst>
          </p:cNvPr>
          <p:cNvSpPr txBox="1">
            <a:spLocks/>
          </p:cNvSpPr>
          <p:nvPr/>
        </p:nvSpPr>
        <p:spPr bwMode="black">
          <a:xfrm>
            <a:off x="6945342" y="4708820"/>
            <a:ext cx="4389074" cy="173906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hlinkClick r:id="rId6"/>
              </a:rPr>
              <a:t>UI5 Builder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Library bundling</a:t>
            </a:r>
          </a:p>
          <a:p>
            <a:pPr lvl="2"/>
            <a:r>
              <a:rPr lang="en-US" dirty="0"/>
              <a:t>Component-preload generation</a:t>
            </a:r>
          </a:p>
          <a:p>
            <a:pPr lvl="2"/>
            <a:r>
              <a:rPr lang="en-US" dirty="0"/>
              <a:t>Minify sources</a:t>
            </a:r>
          </a:p>
        </p:txBody>
      </p:sp>
    </p:spTree>
    <p:extLst>
      <p:ext uri="{BB962C8B-B14F-4D97-AF65-F5344CB8AC3E}">
        <p14:creationId xmlns:p14="http://schemas.microsoft.com/office/powerpoint/2010/main" val="7333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5671-552E-0E9C-B3E2-4B111680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55D59-CFB6-DCAA-937A-7A019E13B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5593587" cy="4787900"/>
          </a:xfrm>
        </p:spPr>
        <p:txBody>
          <a:bodyPr/>
          <a:lstStyle/>
          <a:p>
            <a:pPr lvl="1"/>
            <a:r>
              <a:rPr lang="en-US" dirty="0"/>
              <a:t>Getting started</a:t>
            </a:r>
          </a:p>
          <a:p>
            <a:pPr marL="179387" lvl="2" indent="0">
              <a:buNone/>
            </a:pPr>
            <a:r>
              <a:rPr lang="en-US" b="1" dirty="0"/>
              <a:t>Clone our repository and start the server locally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Exercise 1</a:t>
            </a:r>
          </a:p>
          <a:p>
            <a:pPr marL="179387" lvl="2" indent="0">
              <a:buNone/>
            </a:pPr>
            <a:r>
              <a:rPr lang="en-US" b="1" dirty="0"/>
              <a:t>Introduction to the tools and network traffic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Exercise 2</a:t>
            </a:r>
          </a:p>
          <a:p>
            <a:pPr marL="179387" lvl="2" indent="0">
              <a:buNone/>
            </a:pPr>
            <a:r>
              <a:rPr lang="en-US" b="1" dirty="0"/>
              <a:t>Introduction to UI5 Builder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Exercise 3</a:t>
            </a:r>
          </a:p>
          <a:p>
            <a:pPr marL="179387" lvl="2" indent="0">
              <a:buNone/>
            </a:pPr>
            <a:r>
              <a:rPr lang="en-US" b="1" dirty="0"/>
              <a:t>Deep dive into network traffic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Exercise 4</a:t>
            </a:r>
          </a:p>
          <a:p>
            <a:pPr marL="179387" lvl="2" indent="0">
              <a:buNone/>
            </a:pPr>
            <a:r>
              <a:rPr lang="en-US" b="1" dirty="0"/>
              <a:t>Deep dive into OData requests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(Bonus) Exercise 5</a:t>
            </a:r>
          </a:p>
          <a:p>
            <a:pPr marL="179387" lvl="2" indent="0">
              <a:buNone/>
            </a:pPr>
            <a:r>
              <a:rPr lang="en-US" b="1" dirty="0"/>
              <a:t>Deep dive into additional settings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A9DA536-27CA-0DC2-FB37-54CC5B5F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r>
              <a:rPr lang="de-DE" dirty="0"/>
              <a:t> </a:t>
            </a:r>
            <a:r>
              <a:rPr lang="de-DE" dirty="0" err="1"/>
              <a:t>overview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407561-F014-E4E1-9B5D-D3E71680C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554" y="1836000"/>
            <a:ext cx="6318000" cy="45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21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564B-2252-E6FD-6F0F-AE340414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293B5F7-C3DA-163D-32E8-900A0FD4E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56" y="2858669"/>
            <a:ext cx="4714286" cy="1333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E00228-C43D-1E5C-EA3F-0679302C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00" y="2925335"/>
            <a:ext cx="752381" cy="1266667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193E813-106C-3F14-DD15-53016479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started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05159-4DD2-EC29-704A-87A2147B3D53}"/>
              </a:ext>
            </a:extLst>
          </p:cNvPr>
          <p:cNvSpPr txBox="1"/>
          <p:nvPr/>
        </p:nvSpPr>
        <p:spPr>
          <a:xfrm>
            <a:off x="1238272" y="5220196"/>
            <a:ext cx="97179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Public available in:</a:t>
            </a:r>
          </a:p>
          <a:p>
            <a:r>
              <a:rPr lang="en-DE" sz="3200" dirty="0">
                <a:latin typeface="+mn-lt"/>
              </a:rPr>
              <a:t>https://github.com/SAP-samples/teched202</a:t>
            </a:r>
            <a:r>
              <a:rPr lang="en-US" sz="3200" dirty="0">
                <a:latin typeface="+mn-lt"/>
              </a:rPr>
              <a:t>6</a:t>
            </a:r>
            <a:r>
              <a:rPr lang="en-DE" sz="3200" dirty="0">
                <a:latin typeface="+mn-lt"/>
              </a:rPr>
              <a:t>-</a:t>
            </a:r>
            <a:r>
              <a:rPr lang="en-US" sz="3200" dirty="0">
                <a:latin typeface="+mn-lt"/>
              </a:rPr>
              <a:t>JW</a:t>
            </a:r>
            <a:r>
              <a:rPr lang="en-DE" sz="3200" dirty="0">
                <a:latin typeface="+mn-lt"/>
              </a:rPr>
              <a:t>26</a:t>
            </a:r>
            <a:r>
              <a:rPr lang="en-US" sz="3200" dirty="0">
                <a:latin typeface="+mn-lt"/>
              </a:rPr>
              <a:t>3</a:t>
            </a:r>
            <a:endParaRPr lang="en-DE" sz="3200" dirty="0">
              <a:latin typeface="+mn-lt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B203C-6506-235A-36AA-4043C57F1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11018838" cy="480327"/>
          </a:xfrm>
        </p:spPr>
        <p:txBody>
          <a:bodyPr/>
          <a:lstStyle/>
          <a:p>
            <a:r>
              <a:rPr lang="de-DE" sz="2000" dirty="0">
                <a:latin typeface="72"/>
              </a:rPr>
              <a:t>Access the </a:t>
            </a:r>
            <a:r>
              <a:rPr lang="de-DE" sz="2000" dirty="0" err="1">
                <a:latin typeface="72"/>
              </a:rPr>
              <a:t>exercises</a:t>
            </a:r>
            <a:r>
              <a:rPr lang="de-DE" sz="2000" dirty="0">
                <a:latin typeface="72"/>
              </a:rPr>
              <a:t> on </a:t>
            </a:r>
            <a:r>
              <a:rPr lang="de-DE" sz="2000" dirty="0" err="1">
                <a:latin typeface="72"/>
              </a:rPr>
              <a:t>your</a:t>
            </a:r>
            <a:r>
              <a:rPr lang="de-DE" sz="2000" dirty="0">
                <a:latin typeface="72"/>
              </a:rPr>
              <a:t> TechEd </a:t>
            </a:r>
            <a:r>
              <a:rPr lang="de-DE" sz="2000" dirty="0" err="1">
                <a:latin typeface="72"/>
              </a:rPr>
              <a:t>machine</a:t>
            </a:r>
            <a:r>
              <a:rPr lang="de-DE" sz="2000" dirty="0">
                <a:latin typeface="72"/>
              </a:rPr>
              <a:t> (</a:t>
            </a:r>
            <a:r>
              <a:rPr lang="de-DE" sz="2000" dirty="0" err="1">
                <a:latin typeface="72"/>
              </a:rPr>
              <a:t>shortcut</a:t>
            </a:r>
            <a:r>
              <a:rPr lang="de-DE" sz="2000" dirty="0">
                <a:latin typeface="72"/>
              </a:rPr>
              <a:t>)  </a:t>
            </a:r>
            <a:endParaRPr lang="en-GB" sz="2000" b="1" i="0" u="sng" dirty="0">
              <a:solidFill>
                <a:srgbClr val="23527C"/>
              </a:solidFill>
              <a:effectLst/>
              <a:latin typeface="72"/>
            </a:endParaRPr>
          </a:p>
          <a:p>
            <a:endParaRPr lang="de-DE" sz="2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7C0506-9894-C1B7-442D-0E70EE96CAB8}"/>
              </a:ext>
            </a:extLst>
          </p:cNvPr>
          <p:cNvCxnSpPr/>
          <p:nvPr/>
        </p:nvCxnSpPr>
        <p:spPr>
          <a:xfrm>
            <a:off x="1424466" y="3558669"/>
            <a:ext cx="1442720" cy="0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A71B2B-8243-787D-DA15-973EB7399F3F}"/>
              </a:ext>
            </a:extLst>
          </p:cNvPr>
          <p:cNvSpPr txBox="1"/>
          <p:nvPr/>
        </p:nvSpPr>
        <p:spPr>
          <a:xfrm>
            <a:off x="8633014" y="3173950"/>
            <a:ext cx="2062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b="1" dirty="0">
                <a:latin typeface="72"/>
              </a:rPr>
              <a:t>JW263</a:t>
            </a:r>
            <a:endParaRPr lang="en-US" sz="4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41F548-C3A1-BB31-3276-84CB8A7C0049}"/>
              </a:ext>
            </a:extLst>
          </p:cNvPr>
          <p:cNvCxnSpPr>
            <a:cxnSpLocks/>
          </p:cNvCxnSpPr>
          <p:nvPr/>
        </p:nvCxnSpPr>
        <p:spPr>
          <a:xfrm>
            <a:off x="4215134" y="3544594"/>
            <a:ext cx="4278481" cy="0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FC054D6-5D24-774E-CAE8-F3F01C296574}"/>
              </a:ext>
            </a:extLst>
          </p:cNvPr>
          <p:cNvSpPr/>
          <p:nvPr/>
        </p:nvSpPr>
        <p:spPr bwMode="gray">
          <a:xfrm>
            <a:off x="2867186" y="3351803"/>
            <a:ext cx="1347948" cy="356260"/>
          </a:xfrm>
          <a:prstGeom prst="rect">
            <a:avLst/>
          </a:prstGeom>
          <a:noFill/>
          <a:ln w="38100" algn="ctr">
            <a:solidFill>
              <a:srgbClr val="FFC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050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4584-7CBF-9CCB-9C29-FDECA20C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217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3" id="{DBF5F684-EF76-4E8A-B3DE-55B3D237EF70}" vid="{220B0951-E1EA-482F-8806-B4B895DCA6D9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item1.xml><?xml version="1.0" encoding="utf-8"?>
<TemplafySlideTemplateConfiguration><![CDATA[{"slideVersion":9,"isValidatorEnabled":false,"isLocked":false,"elementsMetadata":[],"slideId":"638331234102899225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4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B854BE305DB4C957C49B2472BEADE" ma:contentTypeVersion="10" ma:contentTypeDescription="Create a new document." ma:contentTypeScope="" ma:versionID="d6f545ecb6d0db5ac636b3e5d1337b60">
  <xsd:schema xmlns:xsd="http://www.w3.org/2001/XMLSchema" xmlns:xs="http://www.w3.org/2001/XMLSchema" xmlns:p="http://schemas.microsoft.com/office/2006/metadata/properties" xmlns:ns2="e04054ec-1ed4-4285-8c8c-94e226392eff" targetNamespace="http://schemas.microsoft.com/office/2006/metadata/properties" ma:root="true" ma:fieldsID="f3f6da5173e2ee352540290fdf1086a1" ns2:_="">
    <xsd:import namespace="e04054ec-1ed4-4285-8c8c-94e226392eff"/>
    <xsd:element name="properties">
      <xsd:complexType>
        <xsd:sequence>
          <xsd:element name="documentManagement">
            <xsd:complexType>
              <xsd:all>
                <xsd:element ref="ns2:Content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054ec-1ed4-4285-8c8c-94e226392eff" elementFormDefault="qualified">
    <xsd:import namespace="http://schemas.microsoft.com/office/2006/documentManagement/types"/>
    <xsd:import namespace="http://schemas.microsoft.com/office/infopath/2007/PartnerControls"/>
    <xsd:element name="Contents" ma:index="8" nillable="true" ma:displayName="Contents" ma:format="Dropdown" ma:internalName="Contents">
      <xsd:simpleType>
        <xsd:restriction base="dms:Note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9,"isValidatorEnabled":false,"isLocked":false,"elementsMetadata":[],"slideId":"638331234102899225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9,"isValidatorEnabled":false,"isLocked":false,"elementsMetadata":[],"slideId":"638331234102899225","enableDocumentContentUpdater":false,"version":"2.0"}]]></TemplafySlideTemplateConfiguration>
</file>

<file path=customXml/item15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16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17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18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1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e04054ec-1ed4-4285-8c8c-94e226392eff" xsi:nil="true"/>
  </documentManagement>
</p:properties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23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27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32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33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8F5F941-6E88-5F40-9BCA-A159B8E67677}">
  <ds:schemaRefs/>
</ds:datastoreItem>
</file>

<file path=customXml/itemProps2.xml><?xml version="1.0" encoding="utf-8"?>
<ds:datastoreItem xmlns:ds="http://schemas.openxmlformats.org/officeDocument/2006/customXml" ds:itemID="{54FE47D6-A0B5-433B-A8EF-42136D6623C1}">
  <ds:schemaRefs/>
</ds:datastoreItem>
</file>

<file path=customXml/itemProps3.xml><?xml version="1.0" encoding="utf-8"?>
<ds:datastoreItem xmlns:ds="http://schemas.openxmlformats.org/officeDocument/2006/customXml" ds:itemID="{6AB5548D-58E6-334E-9FAA-B52CCFB8252C}">
  <ds:schemaRefs/>
</ds:datastoreItem>
</file>

<file path=customXml/itemProps4.xml><?xml version="1.0" encoding="utf-8"?>
<ds:datastoreItem xmlns:ds="http://schemas.openxmlformats.org/officeDocument/2006/customXml" ds:itemID="{8DB0A96E-6777-4404-88E8-A679525071C5}">
  <ds:schemaRefs/>
</ds:datastoreItem>
</file>

<file path=customXml/itemProps5.xml><?xml version="1.0" encoding="utf-8"?>
<ds:datastoreItem xmlns:ds="http://schemas.openxmlformats.org/officeDocument/2006/customXml" ds:itemID="{02A76EF8-E055-4175-8D2D-5B9E60211AF6}">
  <ds:schemaRefs/>
</ds:datastoreItem>
</file>

<file path=customXml/itemProps6.xml><?xml version="1.0" encoding="utf-8"?>
<ds:datastoreItem xmlns:ds="http://schemas.openxmlformats.org/officeDocument/2006/customXml" ds:itemID="{CC49FFC8-2FF3-4057-96F0-3BCD1A4F0351}">
  <ds:schemaRefs/>
</ds:datastoreItem>
</file>

<file path=customXml/itemProps7.xml><?xml version="1.0" encoding="utf-8"?>
<ds:datastoreItem xmlns:ds="http://schemas.openxmlformats.org/officeDocument/2006/customXml" ds:itemID="{262F285F-827C-4183-96DE-8531462DE52A}">
  <ds:schemaRefs/>
</ds:datastoreItem>
</file>

<file path=customXml/itemProps8.xml><?xml version="1.0" encoding="utf-8"?>
<ds:datastoreItem xmlns:ds="http://schemas.openxmlformats.org/officeDocument/2006/customXml" ds:itemID="{170343B8-1D21-CF4D-8B2A-BEADC6F3EDA3}">
  <ds:schemaRefs/>
</ds:datastoreItem>
</file>

<file path=customXml/itemProps9.xml><?xml version="1.0" encoding="utf-8"?>
<ds:datastoreItem xmlns:ds="http://schemas.openxmlformats.org/officeDocument/2006/customXml" ds:itemID="{5E11CF51-A506-4F35-8D30-27CC6B312382}">
  <ds:schemaRefs/>
</ds:datastoreItem>
</file>

<file path=customXml/itemProps10.xml><?xml version="1.0" encoding="utf-8"?>
<ds:datastoreItem xmlns:ds="http://schemas.openxmlformats.org/officeDocument/2006/customXml" ds:itemID="{E6DF6A1E-858A-4D32-98B9-4D0EB989F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4054ec-1ed4-4285-8c8c-94e226392e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E401AD5E-0345-3841-9A80-CC515C24B561}">
  <ds:schemaRefs/>
</ds:datastoreItem>
</file>

<file path=customXml/itemProps12.xml><?xml version="1.0" encoding="utf-8"?>
<ds:datastoreItem xmlns:ds="http://schemas.openxmlformats.org/officeDocument/2006/customXml" ds:itemID="{CD0134D0-A1A0-8848-AA04-9CD5222FDAB6}">
  <ds:schemaRefs/>
</ds:datastoreItem>
</file>

<file path=customXml/itemProps13.xml><?xml version="1.0" encoding="utf-8"?>
<ds:datastoreItem xmlns:ds="http://schemas.openxmlformats.org/officeDocument/2006/customXml" ds:itemID="{7191A31C-0001-4F47-9681-3BF2CDE82779}">
  <ds:schemaRefs/>
</ds:datastoreItem>
</file>

<file path=customXml/itemProps14.xml><?xml version="1.0" encoding="utf-8"?>
<ds:datastoreItem xmlns:ds="http://schemas.openxmlformats.org/officeDocument/2006/customXml" ds:itemID="{ADE5B4D4-E351-444E-B177-D4608A942F0A}">
  <ds:schemaRefs/>
</ds:datastoreItem>
</file>

<file path=customXml/itemProps15.xml><?xml version="1.0" encoding="utf-8"?>
<ds:datastoreItem xmlns:ds="http://schemas.openxmlformats.org/officeDocument/2006/customXml" ds:itemID="{05699546-CFE1-41B1-AAA2-812D393B2CE8}">
  <ds:schemaRefs/>
</ds:datastoreItem>
</file>

<file path=customXml/itemProps16.xml><?xml version="1.0" encoding="utf-8"?>
<ds:datastoreItem xmlns:ds="http://schemas.openxmlformats.org/officeDocument/2006/customXml" ds:itemID="{69B73946-F389-40E3-A533-45A6D07B0A63}">
  <ds:schemaRefs/>
</ds:datastoreItem>
</file>

<file path=customXml/itemProps17.xml><?xml version="1.0" encoding="utf-8"?>
<ds:datastoreItem xmlns:ds="http://schemas.openxmlformats.org/officeDocument/2006/customXml" ds:itemID="{7CE852FA-A08C-42DD-AE0D-B4ACD5BB86CC}">
  <ds:schemaRefs/>
</ds:datastoreItem>
</file>

<file path=customXml/itemProps18.xml><?xml version="1.0" encoding="utf-8"?>
<ds:datastoreItem xmlns:ds="http://schemas.openxmlformats.org/officeDocument/2006/customXml" ds:itemID="{E54232B7-ECAB-41A6-AF8E-F8AA8F67AA91}">
  <ds:schemaRefs/>
</ds:datastoreItem>
</file>

<file path=customXml/itemProps19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  <ds:schemaRef ds:uri="779f7773-5b16-460b-be9a-e10be11b395c"/>
    <ds:schemaRef ds:uri="c4b6f2ff-68b1-46de-9bce-6fa460fc6320"/>
    <ds:schemaRef ds:uri="c6ac5ec3-bac5-4275-866e-43e75c41036e"/>
    <ds:schemaRef ds:uri="e04054ec-1ed4-4285-8c8c-94e226392eff"/>
  </ds:schemaRefs>
</ds:datastoreItem>
</file>

<file path=customXml/itemProps20.xml><?xml version="1.0" encoding="utf-8"?>
<ds:datastoreItem xmlns:ds="http://schemas.openxmlformats.org/officeDocument/2006/customXml" ds:itemID="{1949C97A-F2E4-44DC-BFCA-6630B6534B78}">
  <ds:schemaRefs/>
</ds:datastoreItem>
</file>

<file path=customXml/itemProps21.xml><?xml version="1.0" encoding="utf-8"?>
<ds:datastoreItem xmlns:ds="http://schemas.openxmlformats.org/officeDocument/2006/customXml" ds:itemID="{093F9FDC-2A4A-ED4D-B53E-692E61134852}">
  <ds:schemaRefs/>
</ds:datastoreItem>
</file>

<file path=customXml/itemProps22.xml><?xml version="1.0" encoding="utf-8"?>
<ds:datastoreItem xmlns:ds="http://schemas.openxmlformats.org/officeDocument/2006/customXml" ds:itemID="{A40E1732-987B-4907-BC0D-0BC5B3BEBE4F}">
  <ds:schemaRefs/>
</ds:datastoreItem>
</file>

<file path=customXml/itemProps23.xml><?xml version="1.0" encoding="utf-8"?>
<ds:datastoreItem xmlns:ds="http://schemas.openxmlformats.org/officeDocument/2006/customXml" ds:itemID="{626BBCBB-1894-4E66-BA48-9E91CE3ACBA0}">
  <ds:schemaRefs/>
</ds:datastoreItem>
</file>

<file path=customXml/itemProps24.xml><?xml version="1.0" encoding="utf-8"?>
<ds:datastoreItem xmlns:ds="http://schemas.openxmlformats.org/officeDocument/2006/customXml" ds:itemID="{8F54209D-E2B9-45C1-850A-8060F1CC8CCA}">
  <ds:schemaRefs/>
</ds:datastoreItem>
</file>

<file path=customXml/itemProps25.xml><?xml version="1.0" encoding="utf-8"?>
<ds:datastoreItem xmlns:ds="http://schemas.openxmlformats.org/officeDocument/2006/customXml" ds:itemID="{1DF57CE4-1364-6D4B-85AD-5F8466EBEDE4}">
  <ds:schemaRefs/>
</ds:datastoreItem>
</file>

<file path=customXml/itemProps26.xml><?xml version="1.0" encoding="utf-8"?>
<ds:datastoreItem xmlns:ds="http://schemas.openxmlformats.org/officeDocument/2006/customXml" ds:itemID="{2E9C140C-7F7C-4BAD-BCD9-F2636157DE78}">
  <ds:schemaRefs/>
</ds:datastoreItem>
</file>

<file path=customXml/itemProps27.xml><?xml version="1.0" encoding="utf-8"?>
<ds:datastoreItem xmlns:ds="http://schemas.openxmlformats.org/officeDocument/2006/customXml" ds:itemID="{2EBA1259-1672-4DD3-BA35-A6EAF5A9B084}">
  <ds:schemaRefs/>
</ds:datastoreItem>
</file>

<file path=customXml/itemProps28.xml><?xml version="1.0" encoding="utf-8"?>
<ds:datastoreItem xmlns:ds="http://schemas.openxmlformats.org/officeDocument/2006/customXml" ds:itemID="{1A5C0054-ED86-FF44-8598-F88C8909EB8E}">
  <ds:schemaRefs/>
</ds:datastoreItem>
</file>

<file path=customXml/itemProps29.xml><?xml version="1.0" encoding="utf-8"?>
<ds:datastoreItem xmlns:ds="http://schemas.openxmlformats.org/officeDocument/2006/customXml" ds:itemID="{0FC0028B-AD7A-9748-B2CA-6E9379D3DC0C}">
  <ds:schemaRefs/>
</ds:datastoreItem>
</file>

<file path=customXml/itemProps30.xml><?xml version="1.0" encoding="utf-8"?>
<ds:datastoreItem xmlns:ds="http://schemas.openxmlformats.org/officeDocument/2006/customXml" ds:itemID="{511EDB5B-1977-42F7-ACB8-F68AF573B5A5}">
  <ds:schemaRefs/>
</ds:datastoreItem>
</file>

<file path=customXml/itemProps31.xml><?xml version="1.0" encoding="utf-8"?>
<ds:datastoreItem xmlns:ds="http://schemas.openxmlformats.org/officeDocument/2006/customXml" ds:itemID="{FCDADE86-33AC-F045-834E-85ABB4AF5E91}">
  <ds:schemaRefs/>
</ds:datastoreItem>
</file>

<file path=customXml/itemProps32.xml><?xml version="1.0" encoding="utf-8"?>
<ds:datastoreItem xmlns:ds="http://schemas.openxmlformats.org/officeDocument/2006/customXml" ds:itemID="{9F687104-044A-49FD-BBC2-8EEC24DE651C}">
  <ds:schemaRefs/>
</ds:datastoreItem>
</file>

<file path=customXml/itemProps33.xml><?xml version="1.0" encoding="utf-8"?>
<ds:datastoreItem xmlns:ds="http://schemas.openxmlformats.org/officeDocument/2006/customXml" ds:itemID="{340F98CC-F8FA-4257-87D3-FCE825196D17}">
  <ds:schemaRefs/>
</ds:datastoreItem>
</file>

<file path=customXml/itemProps34.xml><?xml version="1.0" encoding="utf-8"?>
<ds:datastoreItem xmlns:ds="http://schemas.openxmlformats.org/officeDocument/2006/customXml" ds:itemID="{8B8FB826-CCDC-AF4C-BF96-24E063BDEB4A}">
  <ds:schemaRefs/>
</ds:datastoreItem>
</file>

<file path=customXml/itemProps35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36.xml><?xml version="1.0" encoding="utf-8"?>
<ds:datastoreItem xmlns:ds="http://schemas.openxmlformats.org/officeDocument/2006/customXml" ds:itemID="{2619A3F2-6BB2-4CAE-88B7-CFA577527EBA}">
  <ds:schemaRefs/>
</ds:datastoreItem>
</file>

<file path=customXml/itemProps37.xml><?xml version="1.0" encoding="utf-8"?>
<ds:datastoreItem xmlns:ds="http://schemas.openxmlformats.org/officeDocument/2006/customXml" ds:itemID="{E19A75CB-4D80-4AAD-916A-55DF8FF360BE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PPT_Template_SAP_TechEd_2026_public</Template>
  <TotalTime>23</TotalTime>
  <Words>471</Words>
  <Application>Microsoft Office PowerPoint</Application>
  <PresentationFormat>Custom</PresentationFormat>
  <Paragraphs>86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72 Brand Medium</vt:lpstr>
      <vt:lpstr>72 Brand</vt:lpstr>
      <vt:lpstr>wingdings</vt:lpstr>
      <vt:lpstr>72 Brand Book</vt:lpstr>
      <vt:lpstr>Arial Unicode MS</vt:lpstr>
      <vt:lpstr>wingdings</vt:lpstr>
      <vt:lpstr>Arial</vt:lpstr>
      <vt:lpstr>Symbol</vt:lpstr>
      <vt:lpstr>Consolas</vt:lpstr>
      <vt:lpstr>72</vt:lpstr>
      <vt:lpstr>SAP Template</vt:lpstr>
      <vt:lpstr>JW263 – AI-assisted optimization of SAP front-end application performance </vt:lpstr>
      <vt:lpstr>Front-end application</vt:lpstr>
      <vt:lpstr>Front-end application performance</vt:lpstr>
      <vt:lpstr>How browsers work</vt:lpstr>
      <vt:lpstr>First-level break-down to frontend, network and backend performance issues</vt:lpstr>
      <vt:lpstr>Fully optimized application – Round-Trips</vt:lpstr>
      <vt:lpstr>Fully optimized application – Round-Trips (cont)</vt:lpstr>
      <vt:lpstr>Exercises overview</vt:lpstr>
      <vt:lpstr>Let‘s get started</vt:lpstr>
      <vt:lpstr>PowerPoint Presentation</vt:lpstr>
    </vt:vector>
  </TitlesOfParts>
  <Manager/>
  <Company>SAP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Recio Huertas, Joaquin</dc:creator>
  <dc:description/>
  <cp:lastModifiedBy>Recio Huertas, Joaquin</cp:lastModifiedBy>
  <cp:revision>7</cp:revision>
  <dcterms:created xsi:type="dcterms:W3CDTF">2026-10-07T11:49:00Z</dcterms:created>
  <dcterms:modified xsi:type="dcterms:W3CDTF">2026-10-09T16:37:24Z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0x01010033DB854BE305DB4C957C49B2472BEADE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  <property fmtid="{D5CDD505-2E9C-101B-9397-08002B2CF9AE}" pid="13" name="MediaServiceImageTags">
    <vt:lpwstr/>
  </property>
</Properties>
</file>